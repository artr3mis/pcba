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1ba15af0d4c4afa" /><Relationship Type="http://schemas.openxmlformats.org/officeDocument/2006/relationships/extended-properties" Target="/docProps/app.xml" Id="R0d3803f459134131" /><Relationship Type="http://schemas.openxmlformats.org/officeDocument/2006/relationships/officeDocument" Target="/ppt/presentation.xml" Id="R45df44b53279437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955b450d7d544b5"/>
  </p:sldMasterIdLst>
  <p:notesMasterIdLst>
    <p:notesMasterId xmlns:r="http://schemas.openxmlformats.org/officeDocument/2006/relationships" r:id="R52396277159948fa"/>
  </p:notesMasterIdLst>
  <p:sldIdLst>
    <p:sldId xmlns:r="http://schemas.openxmlformats.org/officeDocument/2006/relationships" id="256" r:id="R246c51b380544cf9"/>
    <p:sldId xmlns:r="http://schemas.openxmlformats.org/officeDocument/2006/relationships" id="257" r:id="R0a18343e87a64254"/>
    <p:sldId xmlns:r="http://schemas.openxmlformats.org/officeDocument/2006/relationships" id="258" r:id="R21733a6d73bc4667"/>
    <p:sldId xmlns:r="http://schemas.openxmlformats.org/officeDocument/2006/relationships" id="259" r:id="R1c4c2aba5e6147fb"/>
    <p:sldId xmlns:r="http://schemas.openxmlformats.org/officeDocument/2006/relationships" id="260" r:id="R9ee7d5f25cc9493f"/>
    <p:sldId xmlns:r="http://schemas.openxmlformats.org/officeDocument/2006/relationships" id="261" r:id="R3da1f3ce1ffb46f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48c2765389a4b9b" /><Relationship Type="http://schemas.openxmlformats.org/officeDocument/2006/relationships/slideMaster" Target="/ppt/slideMasters/slideMaster1.xml" Id="R9955b450d7d544b5" /><Relationship Type="http://schemas.openxmlformats.org/officeDocument/2006/relationships/notesMaster" Target="/ppt/notesMasters/notesMaster1.xml" Id="R52396277159948fa" /><Relationship Type="http://schemas.openxmlformats.org/officeDocument/2006/relationships/presProps" Target="/ppt/presProps.xml" Id="R9abfe17ed7c24f11" /><Relationship Type="http://schemas.openxmlformats.org/officeDocument/2006/relationships/tableStyles" Target="/ppt/tableStyles.xml" Id="R27730d735384431b" /><Relationship Type="http://schemas.openxmlformats.org/officeDocument/2006/relationships/slide" Target="/ppt/slides/slide1.xml" Id="R246c51b380544cf9" /><Relationship Type="http://schemas.openxmlformats.org/officeDocument/2006/relationships/slide" Target="/ppt/slides/slide2.xml" Id="R0a18343e87a64254" /><Relationship Type="http://schemas.openxmlformats.org/officeDocument/2006/relationships/slide" Target="/ppt/slides/slide3.xml" Id="R21733a6d73bc4667" /><Relationship Type="http://schemas.openxmlformats.org/officeDocument/2006/relationships/slide" Target="/ppt/slides/slide4.xml" Id="R1c4c2aba5e6147fb" /><Relationship Type="http://schemas.openxmlformats.org/officeDocument/2006/relationships/slide" Target="/ppt/slides/slide5.xml" Id="R9ee7d5f25cc9493f" /><Relationship Type="http://schemas.openxmlformats.org/officeDocument/2006/relationships/slide" Target="/ppt/slides/slide6.xml" Id="R3da1f3ce1ffb46f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c5c7475e1014eb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394cd0033e84200" /><Relationship Type="http://schemas.openxmlformats.org/officeDocument/2006/relationships/notesMaster" Target="/ppt/notesMasters/notesMaster1.xml" Id="Ref263dd019504bf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a388d8d4b144e04" /><Relationship Type="http://schemas.openxmlformats.org/officeDocument/2006/relationships/notesMaster" Target="/ppt/notesMasters/notesMaster1.xml" Id="R3df2516e2135469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e2a0fa837cd439c" /><Relationship Type="http://schemas.openxmlformats.org/officeDocument/2006/relationships/notesMaster" Target="/ppt/notesMasters/notesMaster1.xml" Id="R295c23d1f5bc431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93531ba5f83461b" /><Relationship Type="http://schemas.openxmlformats.org/officeDocument/2006/relationships/notesMaster" Target="/ppt/notesMasters/notesMaster1.xml" Id="R63f2da5f0576449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6c863652891474b" /><Relationship Type="http://schemas.openxmlformats.org/officeDocument/2006/relationships/notesMaster" Target="/ppt/notesMasters/notesMaster1.xml" Id="R4c4d9913298847d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a0041b9590b4c0d" /><Relationship Type="http://schemas.openxmlformats.org/officeDocument/2006/relationships/notesMaster" Target="/ppt/notesMasters/notesMaster1.xml" Id="Reb7a376cc8534c3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Valor de referência da OAB-BA e condições conforme texto fornecido pelo proponente.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377691d54a45b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802b4a1e954e5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21424f4c0f447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ba9445dfd149c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2f50e1b0ab449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7aac581a24447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EBC02E2-6B99-4D2F-B858-FEE29B9767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593379B-956C-46BB-9558-5345014EE6D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3D92A69-9172-4714-BE6C-F6A824796F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0C92BA9-47BD-4F96-81B9-1CC16E6AF0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6A56C31-B6A3-4EA7-88A2-602C9C6B79B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ACCFD30-3DA4-41B2-AE13-9971DC7994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D7D8106-DC61-468D-BF0A-F1CD34FDC5E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3A8150A-A229-498F-A040-157A2C03470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03440F8-78DF-438C-8206-E18C99A989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59990F4-5065-4E8E-9326-0C2694967D6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3cb913b0d814965" /><Relationship Type="http://schemas.openxmlformats.org/officeDocument/2006/relationships/slideLayout" Target="/ppt/slideLayouts/slideLayout1.xml" Id="R103e68321e924a37" /><Relationship Type="http://schemas.openxmlformats.org/officeDocument/2006/relationships/slideLayout" Target="/ppt/slideLayouts/slideLayout2.xml" Id="R6587c1b2bd12424a" /><Relationship Type="http://schemas.openxmlformats.org/officeDocument/2006/relationships/slideLayout" Target="/ppt/slideLayouts/slideLayout3.xml" Id="R993bb47ee6e245d5" /><Relationship Type="http://schemas.openxmlformats.org/officeDocument/2006/relationships/slideLayout" Target="/ppt/slideLayouts/slideLayout4.xml" Id="R112f4397d946404b" /><Relationship Type="http://schemas.openxmlformats.org/officeDocument/2006/relationships/slideLayout" Target="/ppt/slideLayouts/slideLayout5.xml" Id="R3c0359f0bd9b46e3" /><Relationship Type="http://schemas.openxmlformats.org/officeDocument/2006/relationships/slideLayout" Target="/ppt/slideLayouts/slideLayout6.xml" Id="R666fa796f462432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03e68321e924a37"/>
    <p:sldLayoutId xmlns:r="http://schemas.openxmlformats.org/officeDocument/2006/relationships" id="2147483650" r:id="R6587c1b2bd12424a"/>
    <p:sldLayoutId xmlns:r="http://schemas.openxmlformats.org/officeDocument/2006/relationships" id="2147483651" r:id="R993bb47ee6e245d5"/>
    <p:sldLayoutId xmlns:r="http://schemas.openxmlformats.org/officeDocument/2006/relationships" id="2147483652" r:id="R112f4397d946404b"/>
    <p:sldLayoutId xmlns:r="http://schemas.openxmlformats.org/officeDocument/2006/relationships" id="2147483653" r:id="R3c0359f0bd9b46e3"/>
    <p:sldLayoutId xmlns:r="http://schemas.openxmlformats.org/officeDocument/2006/relationships" id="2147483654" r:id="R666fa796f462432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6dd463d26a4dc0" /><Relationship Type="http://schemas.openxmlformats.org/officeDocument/2006/relationships/notesSlide" Target="/ppt/notesSlides/notesSlide1.xml" Id="Re5b3ce3c6f41495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3693205fe14066" /><Relationship Type="http://schemas.openxmlformats.org/officeDocument/2006/relationships/notesSlide" Target="/ppt/notesSlides/notesSlide2.xml" Id="R7eaa3a8fa3ee43c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69d611b5344104" /><Relationship Type="http://schemas.openxmlformats.org/officeDocument/2006/relationships/notesSlide" Target="/ppt/notesSlides/notesSlide3.xml" Id="R68b43503cdd34d9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46e7ff6ca646b6" /><Relationship Type="http://schemas.openxmlformats.org/officeDocument/2006/relationships/notesSlide" Target="/ppt/notesSlides/notesSlide4.xml" Id="R0ac6833825474c1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e2f6b0a2544721" /><Relationship Type="http://schemas.openxmlformats.org/officeDocument/2006/relationships/notesSlide" Target="/ppt/notesSlides/notesSlide5.xml" Id="Rc3e24352011146d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7ca7bf375244fd" /><Relationship Type="http://schemas.openxmlformats.org/officeDocument/2006/relationships/notesSlide" Target="/ppt/notesSlides/notesSlide6.xml" Id="R4b2ad4de0f8f42d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2C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6CEF1D-F9F6-48B2-BCBA-DA0FAE9FF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7220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C3B29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C3B29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3B29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BDD6FC-A1A2-4339-9CE0-8118DEBD8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D4BE9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D4BE9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D4BE99"/>
                </a:solidFill>
                <a:latin typeface="Arial"/>
                <a:ea typeface="Arial"/>
                <a:cs typeface="Arial"/>
              </a:rPr>
              <a:t>À [NOME DO CLIENTE]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FB6D07-4100-4D2B-AB5C-6FD30A54E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0668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500" b="1">
                <a:solidFill>
                  <a:srgbClr val="F7F4E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500" b="1">
                <a:solidFill>
                  <a:srgbClr val="F7F4EE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7F4EE"/>
                </a:solidFill>
                <a:latin typeface="Arial"/>
                <a:ea typeface="Arial"/>
                <a:cs typeface="Arial"/>
              </a:rPr>
              <a:t>PROPOSTA DE</a:t>
            </a:r>
          </a:p>
          <a:p xmlns:a="http://schemas.openxmlformats.org/drawingml/2006/main">
            <a:pPr>
              <a:defRPr sz="4500" b="1">
                <a:solidFill>
                  <a:srgbClr val="F7F4EE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7F4EE"/>
                </a:solidFill>
                <a:latin typeface="Arial"/>
                <a:ea typeface="Arial"/>
                <a:cs typeface="Arial"/>
              </a:rPr>
              <a:t>HONORÁRIOS</a:t>
            </a:r>
          </a:p>
          <a:p xmlns:a="http://schemas.openxmlformats.org/drawingml/2006/main">
            <a:pPr>
              <a:defRPr sz="4500" b="1">
                <a:solidFill>
                  <a:srgbClr val="F7F4EE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7F4EE"/>
                </a:solidFill>
                <a:latin typeface="Arial"/>
                <a:ea typeface="Arial"/>
                <a:cs typeface="Arial"/>
              </a:rPr>
              <a:t>ADVOCATÍCIOS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A7DF6C-608D-4347-BF4E-BEEF8B934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00525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D4BE9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D4BE99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D4BE99"/>
                </a:solidFill>
                <a:latin typeface="Arial"/>
                <a:ea typeface="Arial"/>
                <a:cs typeface="Arial"/>
              </a:rPr>
              <a:t>Ação monitória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C6E689-3387-4DE8-9FA7-5FD1C96D3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483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F7F4E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F7F4E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7F4EE"/>
                </a:solidFill>
                <a:latin typeface="Arial"/>
                <a:ea typeface="Arial"/>
                <a:cs typeface="Arial"/>
              </a:rPr>
              <a:t>Raimundo Santos Correia Filho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D18D9A-A9BF-4653-82A4-ADB21FF4A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9597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D4BE9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D4BE9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4BE99"/>
                </a:solidFill>
                <a:latin typeface="Arial"/>
                <a:ea typeface="Arial"/>
                <a:cs typeface="Arial"/>
              </a:rPr>
              <a:t>Advogado – OAB/BA 83.020</a:t>
            </a:r>
          </a:p>
        </p:txBody>
      </p:sp>
    </p:spTree>
    <p:extLst>
      <p:ext uri="{BB962C8B-B14F-4D97-AF65-F5344CB8AC3E}">
        <p14:creationId xmlns:p14="http://schemas.microsoft.com/office/powerpoint/2010/main" val="14704438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E4993F-1F56-41ED-BD15-1BB9966C3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82C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C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C3A"/>
                </a:solidFill>
                <a:latin typeface="Arial"/>
                <a:ea typeface="Arial"/>
                <a:cs typeface="Arial"/>
              </a:rPr>
              <a:t>Objeto da atuação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8E96B2-1DD0-483B-9028-BBB9D9F4A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7220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1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271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2717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D8913D-AA52-4D34-BBBB-34E566765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93C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93C4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93C47"/>
                </a:solidFill>
                <a:latin typeface="Arial"/>
                <a:ea typeface="Arial"/>
                <a:cs typeface="Arial"/>
              </a:rPr>
              <a:t>Prezado(a) Senhor(a),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E38000-CE67-4F15-AE9D-37973400F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10096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93C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93C4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93C47"/>
                </a:solidFill>
                <a:latin typeface="Arial"/>
                <a:ea typeface="Arial"/>
                <a:cs typeface="Arial"/>
              </a:rPr>
              <a:t>Após análise preliminar da documentação apresentada, apresento proposta para atuação profissional visando ao ajuizamento de ação monitória contra a empresa devedora.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A59B26-B827-47CB-8BF0-37AF4A829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A481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A4814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A4814E"/>
                </a:solidFill>
                <a:latin typeface="Arial"/>
                <a:ea typeface="Arial"/>
                <a:cs typeface="Arial"/>
              </a:rPr>
              <a:t>CRÉDITO APROXIMADO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993A9D-21A3-4AC4-9F23-C8115F475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86325"/>
            <a:ext cx="1009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800" b="1">
                <a:solidFill>
                  <a:srgbClr val="182C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800" b="1">
                <a:solidFill>
                  <a:srgbClr val="182C3A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182C3A"/>
                </a:solidFill>
                <a:latin typeface="Arial"/>
                <a:ea typeface="Arial"/>
                <a:cs typeface="Arial"/>
              </a:rPr>
              <a:t>R$ 32.000,00</a:t>
            </a:r>
          </a:p>
        </p:txBody>
      </p:sp>
    </p:spTree>
    <p:extLst>
      <p:ext uri="{BB962C8B-B14F-4D97-AF65-F5344CB8AC3E}">
        <p14:creationId xmlns:p14="http://schemas.microsoft.com/office/powerpoint/2010/main" val="16026808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CC6C66-CF7D-4D29-953F-2BD3E4C0F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82C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C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C3A"/>
                </a:solidFill>
                <a:latin typeface="Arial"/>
                <a:ea typeface="Arial"/>
                <a:cs typeface="Arial"/>
              </a:rPr>
              <a:t>1. Serviços incluídos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0BF2C8-0539-453B-B4B8-66B7B7BF7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7220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1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271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2717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33DFE7-3744-4D59-AF22-14FCB7EFF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764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A481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A4814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A4814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B1A91D-FDBE-49CF-8C28-50D7CB425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676400"/>
            <a:ext cx="9763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93C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93C4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93C47"/>
                </a:solidFill>
                <a:latin typeface="Arial"/>
                <a:ea typeface="Arial"/>
                <a:cs typeface="Arial"/>
              </a:rPr>
              <a:t>Análise e organização dos documentos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12B1D8-26D3-42A5-A0CF-4EF15DC55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A481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A4814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A4814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E32ACA-7026-48BC-9403-906FA36AA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476500"/>
            <a:ext cx="9763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93C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93C4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93C47"/>
                </a:solidFill>
                <a:latin typeface="Arial"/>
                <a:ea typeface="Arial"/>
                <a:cs typeface="Arial"/>
              </a:rPr>
              <a:t>Elaboração e protocolo da ação monitória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05EB13-347B-4C5A-ABBB-8EBCC88C7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766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A481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A4814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A4814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BE7600-820B-4B42-A58A-E8BE0E7BA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276600"/>
            <a:ext cx="9763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93C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93C4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93C47"/>
                </a:solidFill>
                <a:latin typeface="Arial"/>
                <a:ea typeface="Arial"/>
                <a:cs typeface="Arial"/>
              </a:rPr>
              <a:t>Acompanhamento do processo em primeiro grau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E64BD6-2162-4623-BE02-EFD89E5C5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767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A481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A4814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A4814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BA4FC0-16B3-42D1-9FEF-C16479D1E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076700"/>
            <a:ext cx="9763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93C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93C4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93C47"/>
                </a:solidFill>
                <a:latin typeface="Arial"/>
                <a:ea typeface="Arial"/>
                <a:cs typeface="Arial"/>
              </a:rPr>
              <a:t>Manifestações processuais ordinárias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CC31F3-17BA-49BF-B485-24CE7790B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768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A481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A4814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A4814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3E0DBD-6C92-4170-993D-5D128FC36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876800"/>
            <a:ext cx="9763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93C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93C4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93C47"/>
                </a:solidFill>
                <a:latin typeface="Arial"/>
                <a:ea typeface="Arial"/>
                <a:cs typeface="Arial"/>
              </a:rPr>
              <a:t>Acompanhamento de eventual pagamento voluntário</a:t>
            </a:r>
          </a:p>
          <a:p xmlns:a="http://schemas.openxmlformats.org/drawingml/2006/main">
            <a:pPr>
              <a:defRPr sz="2100" b="0">
                <a:solidFill>
                  <a:srgbClr val="293C4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93C47"/>
                </a:solidFill>
                <a:latin typeface="Arial"/>
                <a:ea typeface="Arial"/>
                <a:cs typeface="Arial"/>
              </a:rPr>
              <a:t>ou apresentação de embargos monitórios</a:t>
            </a:r>
          </a:p>
        </p:txBody>
      </p:sp>
    </p:spTree>
    <p:extLst>
      <p:ext uri="{BB962C8B-B14F-4D97-AF65-F5344CB8AC3E}">
        <p14:creationId xmlns:p14="http://schemas.microsoft.com/office/powerpoint/2010/main" val="1499614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DE6EFC-5A50-4A4C-8984-0609E6CD9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82C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C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C3A"/>
                </a:solidFill>
                <a:latin typeface="Arial"/>
                <a:ea typeface="Arial"/>
                <a:cs typeface="Arial"/>
              </a:rPr>
              <a:t>2. Honorários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F2EB63-F170-4F92-A104-FE8FB62A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7220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1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271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2717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C02FC6-D0F8-4CB5-9F80-74DBCE7BC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3352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6271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6271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2717A"/>
                </a:solidFill>
                <a:latin typeface="Arial"/>
                <a:ea typeface="Arial"/>
                <a:cs typeface="Arial"/>
              </a:rPr>
              <a:t>A Tabela de Honorários da OAB-BA indica, como referência</a:t>
            </a:r>
          </a:p>
          <a:p xmlns:a="http://schemas.openxmlformats.org/drawingml/2006/main">
            <a:pPr>
              <a:defRPr sz="2025" b="0">
                <a:solidFill>
                  <a:srgbClr val="6271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2717A"/>
                </a:solidFill>
                <a:latin typeface="Arial"/>
                <a:ea typeface="Arial"/>
                <a:cs typeface="Arial"/>
              </a:rPr>
              <a:t>para o serviço, o valor de R$ 5.527,40.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0B29D7-24F1-44BE-8AE5-8E0E2E0E3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93C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93C4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93C47"/>
                </a:solidFill>
                <a:latin typeface="Arial"/>
                <a:ea typeface="Arial"/>
                <a:cs typeface="Arial"/>
              </a:rPr>
              <a:t>Considerando as particularidades da contratação, proponho: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BA5B73-6B52-49A4-A3E9-09FE999E0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52775"/>
            <a:ext cx="5238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575" b="1">
                <a:solidFill>
                  <a:srgbClr val="182C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575" b="1">
                <a:solidFill>
                  <a:srgbClr val="182C3A"/>
                </a:solidFill>
                <a:latin typeface="Arial"/>
                <a:ea typeface="Arial"/>
                <a:cs typeface="Arial"/>
              </a:defRPr>
            </a:pPr>
            <a:r>
              <a:rPr sz="4575" b="1">
                <a:solidFill>
                  <a:srgbClr val="182C3A"/>
                </a:solidFill>
                <a:latin typeface="Arial"/>
                <a:ea typeface="Arial"/>
                <a:cs typeface="Arial"/>
              </a:rPr>
              <a:t>R$ 3.000,00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5BD02E-125E-4D11-9892-B5C051AE1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5048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93C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93C4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93C47"/>
                </a:solidFill>
                <a:latin typeface="Arial"/>
                <a:ea typeface="Arial"/>
                <a:cs typeface="Arial"/>
              </a:rPr>
              <a:t>Honorários iniciais</a:t>
            </a:r>
          </a:p>
          <a:p xmlns:a="http://schemas.openxmlformats.org/drawingml/2006/main">
            <a:pPr>
              <a:defRPr sz="2025" b="0">
                <a:solidFill>
                  <a:srgbClr val="293C4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93C47"/>
                </a:solidFill>
                <a:latin typeface="Arial"/>
                <a:ea typeface="Arial"/>
                <a:cs typeface="Arial"/>
              </a:rPr>
              <a:t>Pagos na contratação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30AF2C-E781-4B45-B26C-3E0FD2E8B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152775"/>
            <a:ext cx="4095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5100" b="1">
                <a:solidFill>
                  <a:srgbClr val="182C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5100" b="1">
                <a:solidFill>
                  <a:srgbClr val="182C3A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182C3A"/>
                </a:solidFill>
                <a:latin typeface="Arial"/>
                <a:ea typeface="Arial"/>
                <a:cs typeface="Arial"/>
              </a:rPr>
              <a:t>10%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E35C27-AF8B-4D89-A274-1802AAACC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162425"/>
            <a:ext cx="43338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93C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93C4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93C47"/>
                </a:solidFill>
                <a:latin typeface="Arial"/>
                <a:ea typeface="Arial"/>
                <a:cs typeface="Arial"/>
              </a:rPr>
              <a:t>Honorários de êxito</a:t>
            </a:r>
          </a:p>
          <a:p xmlns:a="http://schemas.openxmlformats.org/drawingml/2006/main">
            <a:pPr>
              <a:defRPr sz="2025" b="0">
                <a:solidFill>
                  <a:srgbClr val="293C4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93C47"/>
                </a:solidFill>
                <a:latin typeface="Arial"/>
                <a:ea typeface="Arial"/>
                <a:cs typeface="Arial"/>
              </a:rPr>
              <a:t>Sobre o valor efetivamente recuperado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1222B1-897C-4501-AB3D-7E6301C8F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57825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93C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93C4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93C47"/>
                </a:solidFill>
                <a:latin typeface="Arial"/>
                <a:ea typeface="Arial"/>
                <a:cs typeface="Arial"/>
              </a:rPr>
              <a:t>O êxito incidirá sobre todo valor recebido, por pagamento voluntário, acordo, bloqueio judicial, levantamento de valores ou qualquer outra forma de satisfação do crédito.</a:t>
            </a:r>
          </a:p>
        </p:txBody>
      </p:sp>
    </p:spTree>
    <p:extLst>
      <p:ext uri="{BB962C8B-B14F-4D97-AF65-F5344CB8AC3E}">
        <p14:creationId xmlns:p14="http://schemas.microsoft.com/office/powerpoint/2010/main" val="14774725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09C7C6-ADEF-4EDE-8595-665CE59E7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82C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C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C3A"/>
                </a:solidFill>
                <a:latin typeface="Arial"/>
                <a:ea typeface="Arial"/>
                <a:cs typeface="Arial"/>
              </a:rPr>
              <a:t>3. Despesas e serviços não incluídos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0174AD-14FF-4A8A-A352-57D362D4C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7220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1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271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2717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FF86DE-045A-4C4D-87F4-6BAD6F321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90675"/>
            <a:ext cx="4905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A481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A4814E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A4814E"/>
                </a:solidFill>
                <a:latin typeface="Arial"/>
                <a:ea typeface="Arial"/>
                <a:cs typeface="Arial"/>
              </a:rPr>
              <a:t>Custas e despesas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57C148-3C7F-4A32-BB0C-338445186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81225"/>
            <a:ext cx="4905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3C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93C4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93C47"/>
                </a:solidFill>
                <a:latin typeface="Arial"/>
                <a:ea typeface="Arial"/>
                <a:cs typeface="Arial"/>
              </a:rPr>
              <a:t>Custas judiciais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2CC6F5-40D1-4F58-8432-962CAC518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0350"/>
            <a:ext cx="4905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3C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93C4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93C47"/>
                </a:solidFill>
                <a:latin typeface="Arial"/>
                <a:ea typeface="Arial"/>
                <a:cs typeface="Arial"/>
              </a:rPr>
              <a:t>Despesas de diligências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603D90-3667-43DA-9DD6-BF1DE3ECE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19475"/>
            <a:ext cx="4905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3C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93C4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93C47"/>
                </a:solidFill>
                <a:latin typeface="Arial"/>
                <a:ea typeface="Arial"/>
                <a:cs typeface="Arial"/>
              </a:rPr>
              <a:t>Taxas, certidões e emolumentos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772777-8296-4409-B8FB-4F97E96F3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38600"/>
            <a:ext cx="4905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3C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93C4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93C47"/>
                </a:solidFill>
                <a:latin typeface="Arial"/>
                <a:ea typeface="Arial"/>
                <a:cs typeface="Arial"/>
              </a:rPr>
              <a:t>Cópias, autenticações ou deslocamentos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F9C0C3-8C8F-4864-9AF1-9A253B076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57725"/>
            <a:ext cx="4905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3C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93C4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93C47"/>
                </a:solidFill>
                <a:latin typeface="Arial"/>
                <a:ea typeface="Arial"/>
                <a:cs typeface="Arial"/>
              </a:rPr>
              <a:t>Honorários de peritos ou profissionais auxiliares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EDF055-7B7A-443F-8246-F5034B4B0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590675"/>
            <a:ext cx="4905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A481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A4814E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A4814E"/>
                </a:solidFill>
                <a:latin typeface="Arial"/>
                <a:ea typeface="Arial"/>
                <a:cs typeface="Arial"/>
              </a:rPr>
              <a:t>Atuação adicional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892FEB-C0FC-4D13-873E-37C7BC685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181225"/>
            <a:ext cx="4810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3C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93C4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93C47"/>
                </a:solidFill>
                <a:latin typeface="Arial"/>
                <a:ea typeface="Arial"/>
                <a:cs typeface="Arial"/>
              </a:rPr>
              <a:t>Recursos para tribunais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869DF1-7126-4AB7-8303-854C7A810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200400"/>
            <a:ext cx="4810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3C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93C4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93C47"/>
                </a:solidFill>
                <a:latin typeface="Arial"/>
                <a:ea typeface="Arial"/>
                <a:cs typeface="Arial"/>
              </a:rPr>
              <a:t>Incidente de desconsideração da personalidade jurídica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D591AF-B5C6-47F9-B36F-7436D60CE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219575"/>
            <a:ext cx="4810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3C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93C4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93C47"/>
                </a:solidFill>
                <a:latin typeface="Arial"/>
                <a:ea typeface="Arial"/>
                <a:cs typeface="Arial"/>
              </a:rPr>
              <a:t>Medidas executivas ou investigação patrimonial extraordinárias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61646A-05DA-4708-BFCA-23902D5B4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19775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182C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82C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2C3A"/>
                </a:solidFill>
                <a:latin typeface="Arial"/>
                <a:ea typeface="Arial"/>
                <a:cs typeface="Arial"/>
              </a:rPr>
              <a:t>Eventuais despesas serão previamente comunicadas e correrão por conta do contratante.</a:t>
            </a:r>
          </a:p>
        </p:txBody>
      </p:sp>
    </p:spTree>
    <p:extLst>
      <p:ext uri="{BB962C8B-B14F-4D97-AF65-F5344CB8AC3E}">
        <p14:creationId xmlns:p14="http://schemas.microsoft.com/office/powerpoint/2010/main" val="54831459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82C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FAF0A7-3125-40CD-8412-F9F2FCD07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F7F4E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F7F4E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7F4EE"/>
                </a:solidFill>
                <a:latin typeface="Arial"/>
                <a:ea typeface="Arial"/>
                <a:cs typeface="Arial"/>
              </a:rPr>
              <a:t>4. Observação e formalização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00F8CE-B35E-4AAC-B4E9-55760B989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7220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C3B29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C3B29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3B294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476838-904D-46BF-BA74-3D39BB1B0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104775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F7F4E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F7F4EE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7F4EE"/>
                </a:solidFill>
                <a:latin typeface="Arial"/>
                <a:ea typeface="Arial"/>
                <a:cs typeface="Arial"/>
              </a:rPr>
              <a:t>A contratação não garante resultado específico, pois o êxito depende da análise judicial dos documentos, da defesa apresentada pela parte contrária e da existência de patrimônio penhorável.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E409C7-2BE0-4E73-94F6-E4B2AA7FD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76650"/>
            <a:ext cx="104775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D4BE9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D4BE99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D4BE99"/>
                </a:solidFill>
                <a:latin typeface="Arial"/>
                <a:ea typeface="Arial"/>
                <a:cs typeface="Arial"/>
              </a:rPr>
              <a:t>A presente proposta poderá ser formalizada mediante</a:t>
            </a:r>
          </a:p>
          <a:p xmlns:a="http://schemas.openxmlformats.org/drawingml/2006/main">
            <a:pPr>
              <a:defRPr sz="2175" b="0">
                <a:solidFill>
                  <a:srgbClr val="D4BE99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D4BE99"/>
                </a:solidFill>
                <a:latin typeface="Arial"/>
                <a:ea typeface="Arial"/>
                <a:cs typeface="Arial"/>
              </a:rPr>
              <a:t>contrato de honorários advocatícios próprio.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FCABD6-5DF7-4215-86DA-6CEDEBC33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38725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F7F4E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F7F4E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7F4EE"/>
                </a:solidFill>
                <a:latin typeface="Arial"/>
                <a:ea typeface="Arial"/>
                <a:cs typeface="Arial"/>
              </a:rPr>
              <a:t>Atenciosamente,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BC7C19-3F83-4B7C-92B7-C3CAC7EEC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673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F7F4E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F7F4E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7F4EE"/>
                </a:solidFill>
                <a:latin typeface="Arial"/>
                <a:ea typeface="Arial"/>
                <a:cs typeface="Arial"/>
              </a:rPr>
              <a:t>Raimundo Santos Correia Filho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CEE843-C731-471C-B28C-C93B9DAB9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09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D4BE9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D4BE9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4BE99"/>
                </a:solidFill>
                <a:latin typeface="Arial"/>
                <a:ea typeface="Arial"/>
                <a:cs typeface="Arial"/>
              </a:rPr>
              <a:t>Advogado – OAB/BA 83.020</a:t>
            </a:r>
          </a:p>
        </p:txBody>
      </p:sp>
    </p:spTree>
    <p:extLst>
      <p:ext uri="{BB962C8B-B14F-4D97-AF65-F5344CB8AC3E}">
        <p14:creationId xmlns:p14="http://schemas.microsoft.com/office/powerpoint/2010/main" val="13345872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2026-10-13T23:43:51.7510000Z</dcterms:created>
  <dcterms:modified xsi:type="dcterms:W3CDTF">2026-10-13T23:43:51.7510000Z</dcterms:modified>
</coreProperties>
</file>