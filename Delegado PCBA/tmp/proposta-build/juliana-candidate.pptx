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7f683b43b8425f" /><Relationship Type="http://schemas.openxmlformats.org/officeDocument/2006/relationships/extended-properties" Target="/docProps/app.xml" Id="R62848bd61ff6421c" /><Relationship Type="http://schemas.openxmlformats.org/officeDocument/2006/relationships/officeDocument" Target="/ppt/presentation.xml" Id="R29f27bf258bf46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b4fe4a50494aeb"/>
  </p:sldMasterIdLst>
  <p:notesMasterIdLst>
    <p:notesMasterId xmlns:r="http://schemas.openxmlformats.org/officeDocument/2006/relationships" r:id="Rddc1824b14844d9d"/>
  </p:notesMasterIdLst>
  <p:sldIdLst>
    <p:sldId xmlns:r="http://schemas.openxmlformats.org/officeDocument/2006/relationships" id="256" r:id="R89f5de7e10d744ce"/>
    <p:sldId xmlns:r="http://schemas.openxmlformats.org/officeDocument/2006/relationships" id="257" r:id="R58feaac074b24be1"/>
    <p:sldId xmlns:r="http://schemas.openxmlformats.org/officeDocument/2006/relationships" id="258" r:id="Rd53fb6dc24e94fdb"/>
    <p:sldId xmlns:r="http://schemas.openxmlformats.org/officeDocument/2006/relationships" id="259" r:id="Ra9db6032bb654d2d"/>
    <p:sldId xmlns:r="http://schemas.openxmlformats.org/officeDocument/2006/relationships" id="260" r:id="R011b51c3c1de47a6"/>
    <p:sldId xmlns:r="http://schemas.openxmlformats.org/officeDocument/2006/relationships" id="261" r:id="R902c6271f2d341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192daca07245c8" /><Relationship Type="http://schemas.openxmlformats.org/officeDocument/2006/relationships/slideMaster" Target="/ppt/slideMasters/slideMaster1.xml" Id="R88b4fe4a50494aeb" /><Relationship Type="http://schemas.openxmlformats.org/officeDocument/2006/relationships/notesMaster" Target="/ppt/notesMasters/notesMaster1.xml" Id="Rddc1824b14844d9d" /><Relationship Type="http://schemas.openxmlformats.org/officeDocument/2006/relationships/presProps" Target="/ppt/presProps.xml" Id="R6171f55f2b2948c7" /><Relationship Type="http://schemas.openxmlformats.org/officeDocument/2006/relationships/tableStyles" Target="/ppt/tableStyles.xml" Id="R3f3bd50c9ef64aa4" /><Relationship Type="http://schemas.openxmlformats.org/officeDocument/2006/relationships/slide" Target="/ppt/slides/slide1.xml" Id="R89f5de7e10d744ce" /><Relationship Type="http://schemas.openxmlformats.org/officeDocument/2006/relationships/slide" Target="/ppt/slides/slide2.xml" Id="R58feaac074b24be1" /><Relationship Type="http://schemas.openxmlformats.org/officeDocument/2006/relationships/slide" Target="/ppt/slides/slide3.xml" Id="Rd53fb6dc24e94fdb" /><Relationship Type="http://schemas.openxmlformats.org/officeDocument/2006/relationships/slide" Target="/ppt/slides/slide4.xml" Id="Ra9db6032bb654d2d" /><Relationship Type="http://schemas.openxmlformats.org/officeDocument/2006/relationships/slide" Target="/ppt/slides/slide5.xml" Id="R011b51c3c1de47a6" /><Relationship Type="http://schemas.openxmlformats.org/officeDocument/2006/relationships/slide" Target="/ppt/slides/slide6.xml" Id="R902c6271f2d341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dcc09416e646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6c1903293945cd" /><Relationship Type="http://schemas.openxmlformats.org/officeDocument/2006/relationships/notesMaster" Target="/ppt/notesMasters/notesMaster1.xml" Id="Rac90ecf2f5b84b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39243c4b584acb" /><Relationship Type="http://schemas.openxmlformats.org/officeDocument/2006/relationships/notesMaster" Target="/ppt/notesMasters/notesMaster1.xml" Id="R022b0f65c00a42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edf593ebf8436a" /><Relationship Type="http://schemas.openxmlformats.org/officeDocument/2006/relationships/notesMaster" Target="/ppt/notesMasters/notesMaster1.xml" Id="R7dd0a9a3ccf44f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1656df4f754719" /><Relationship Type="http://schemas.openxmlformats.org/officeDocument/2006/relationships/notesMaster" Target="/ppt/notesMasters/notesMaster1.xml" Id="R01ee8183d76847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42c25fef0149c4" /><Relationship Type="http://schemas.openxmlformats.org/officeDocument/2006/relationships/notesMaster" Target="/ppt/notesMasters/notesMaster1.xml" Id="R6a67573fede441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4218d1634c4627" /><Relationship Type="http://schemas.openxmlformats.org/officeDocument/2006/relationships/notesMaster" Target="/ppt/notesMasters/notesMaster1.xml" Id="Rafb7e7ceefff41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Valor de referência da OAB-BA e condições conforme texto fornecido pelo proponente.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c3b3dceae546e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0fce3648d14bb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15d10a499841d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7df82a2a6d495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267f2e9427492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374f2cfef749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BC02E2-6B99-4D2F-B858-FEE29B9767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593379B-956C-46BB-9558-5345014EE6D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3D92A69-9172-4714-BE6C-F6A824796F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C92BA9-47BD-4F96-81B9-1CC16E6AF0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6A56C31-B6A3-4EA7-88A2-602C9C6B79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ACCFD30-3DA4-41B2-AE13-9971DC7994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7D8106-DC61-468D-BF0A-F1CD34FDC5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3A8150A-A229-498F-A040-157A2C0347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3440F8-78DF-438C-8206-E18C99A989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9990F4-5065-4E8E-9326-0C2694967D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645747731d4a91" /><Relationship Type="http://schemas.openxmlformats.org/officeDocument/2006/relationships/slideLayout" Target="/ppt/slideLayouts/slideLayout1.xml" Id="Rdb6aae67014543ab" /><Relationship Type="http://schemas.openxmlformats.org/officeDocument/2006/relationships/slideLayout" Target="/ppt/slideLayouts/slideLayout2.xml" Id="Rf5beabb8e04e46a8" /><Relationship Type="http://schemas.openxmlformats.org/officeDocument/2006/relationships/slideLayout" Target="/ppt/slideLayouts/slideLayout3.xml" Id="Rfd6fda9fa6e84692" /><Relationship Type="http://schemas.openxmlformats.org/officeDocument/2006/relationships/slideLayout" Target="/ppt/slideLayouts/slideLayout4.xml" Id="Rb9fa37a9bd7b40de" /><Relationship Type="http://schemas.openxmlformats.org/officeDocument/2006/relationships/slideLayout" Target="/ppt/slideLayouts/slideLayout5.xml" Id="Re024c4d0b4314eb7" /><Relationship Type="http://schemas.openxmlformats.org/officeDocument/2006/relationships/slideLayout" Target="/ppt/slideLayouts/slideLayout6.xml" Id="R4ee74c513c8a46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6aae67014543ab"/>
    <p:sldLayoutId xmlns:r="http://schemas.openxmlformats.org/officeDocument/2006/relationships" id="2147483650" r:id="Rf5beabb8e04e46a8"/>
    <p:sldLayoutId xmlns:r="http://schemas.openxmlformats.org/officeDocument/2006/relationships" id="2147483651" r:id="Rfd6fda9fa6e84692"/>
    <p:sldLayoutId xmlns:r="http://schemas.openxmlformats.org/officeDocument/2006/relationships" id="2147483652" r:id="Rb9fa37a9bd7b40de"/>
    <p:sldLayoutId xmlns:r="http://schemas.openxmlformats.org/officeDocument/2006/relationships" id="2147483653" r:id="Re024c4d0b4314eb7"/>
    <p:sldLayoutId xmlns:r="http://schemas.openxmlformats.org/officeDocument/2006/relationships" id="2147483654" r:id="R4ee74c513c8a46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f6c022c026491a" /><Relationship Type="http://schemas.openxmlformats.org/officeDocument/2006/relationships/notesSlide" Target="/ppt/notesSlides/notesSlide1.xml" Id="R4edf4f44513146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d9308c6c374439" /><Relationship Type="http://schemas.openxmlformats.org/officeDocument/2006/relationships/notesSlide" Target="/ppt/notesSlides/notesSlide2.xml" Id="R4a68fcfa6e264a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6cdf072c9c4397" /><Relationship Type="http://schemas.openxmlformats.org/officeDocument/2006/relationships/notesSlide" Target="/ppt/notesSlides/notesSlide3.xml" Id="Rda8ff64b7ea449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ce324dc09f4333" /><Relationship Type="http://schemas.openxmlformats.org/officeDocument/2006/relationships/notesSlide" Target="/ppt/notesSlides/notesSlide4.xml" Id="R4a1fcc84bce844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cd4cc5739b4687" /><Relationship Type="http://schemas.openxmlformats.org/officeDocument/2006/relationships/notesSlide" Target="/ppt/notesSlides/notesSlide5.xml" Id="Rf812cc60e9c648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12b71ff8b9422e" /><Relationship Type="http://schemas.openxmlformats.org/officeDocument/2006/relationships/notesSlide" Target="/ppt/notesSlides/notesSlide6.xml" Id="R024767e6b2384a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CEF1D-F9F6-48B2-BCBA-DA0FAE9F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722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C3B2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C3B29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3B294"/>
                </a:solidFill>
                <a:latin typeface="Arial"/>
                <a:ea typeface="Arial"/>
                <a:cs typeface="Arial"/>
              </a:rPr>
              <a:t>À JULIANA BELLAS PRADO BARQUEIRO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DD6FC-A1A2-4339-9CE0-8118DEBD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D4BE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D4BE9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4BE99"/>
                </a:solidFill>
                <a:latin typeface="Arial"/>
                <a:ea typeface="Arial"/>
                <a:cs typeface="Arial"/>
              </a:rPr>
              <a:t>À [NOME DO CLIENTE]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B6D07-4100-4D2B-AB5C-6FD30A54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F7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500" b="1">
                <a:solidFill>
                  <a:srgbClr val="F7F4E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7F4EE"/>
                </a:solidFill>
                <a:latin typeface="Arial"/>
                <a:ea typeface="Arial"/>
                <a:cs typeface="Arial"/>
              </a:rPr>
              <a:t>PROPOSTA DE</a:t>
            </a:r>
          </a:p>
          <a:p xmlns:a="http://schemas.openxmlformats.org/drawingml/2006/main">
            <a:pPr>
              <a:buNone/>
              <a:defRPr sz="4500" b="1">
                <a:solidFill>
                  <a:srgbClr val="F7F4E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7F4EE"/>
                </a:solidFill>
                <a:latin typeface="Arial"/>
                <a:ea typeface="Arial"/>
                <a:cs typeface="Arial"/>
              </a:rPr>
              <a:t>HONORÁRIOS</a:t>
            </a:r>
          </a:p>
          <a:p xmlns:a="http://schemas.openxmlformats.org/drawingml/2006/main">
            <a:pPr>
              <a:buNone/>
              <a:defRPr sz="4500" b="1">
                <a:solidFill>
                  <a:srgbClr val="F7F4E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7F4EE"/>
                </a:solidFill>
                <a:latin typeface="Arial"/>
                <a:ea typeface="Arial"/>
                <a:cs typeface="Arial"/>
              </a:rPr>
              <a:t>ADVOCATÍCIOS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7DF6C-608D-4347-BF4E-BEEF8B93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D4BE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D4BE9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4BE99"/>
                </a:solidFill>
                <a:latin typeface="Arial"/>
                <a:ea typeface="Arial"/>
                <a:cs typeface="Arial"/>
              </a:rPr>
              <a:t>Ação monitória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6E689-3387-4DE8-9FA7-5FD1C96D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7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F7F4E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4EE"/>
                </a:solidFill>
                <a:latin typeface="Arial"/>
                <a:ea typeface="Arial"/>
                <a:cs typeface="Arial"/>
              </a:rPr>
              <a:t>Raimundo Santos Correia Filho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18D9A-A9BF-4653-82A4-ADB21FF4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959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4BE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D4BE9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4BE99"/>
                </a:solidFill>
                <a:latin typeface="Arial"/>
                <a:ea typeface="Arial"/>
                <a:cs typeface="Arial"/>
              </a:rPr>
              <a:t>Advogado – OAB/BA 83.020</a:t>
            </a:r>
          </a:p>
        </p:txBody>
      </p:sp>
    </p:spTree>
    <p:extLst>
      <p:ext uri="{BB962C8B-B14F-4D97-AF65-F5344CB8AC3E}">
        <p14:creationId xmlns:p14="http://schemas.microsoft.com/office/powerpoint/2010/main" val="14704438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4993F-1F56-41ED-BD15-1BB9966C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Objeto da atuação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E96B2-1DD0-483B-9028-BBB9D9F4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722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71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8913D-AA52-4D34-BBBB-34E56676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Prezado(a) Senhor(a),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38000-CE67-4F15-AE9D-37973400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09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Após análise preliminar da documentação apresentada, apresento proposta para atuação profissional visando ao ajuizamento de ação monitória contra a empresa devedora.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59B26-B827-47CB-8BF0-37AF4A82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4814E"/>
                </a:solidFill>
                <a:latin typeface="Arial"/>
                <a:ea typeface="Arial"/>
                <a:cs typeface="Arial"/>
              </a:rPr>
              <a:t>CRÉDITO APROXIMADO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93A9D-21A3-4AC4-9F23-C8115F47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86325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8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R$ 32.000,00</a:t>
            </a:r>
          </a:p>
        </p:txBody>
      </p:sp>
    </p:spTree>
    <p:extLst>
      <p:ext uri="{BB962C8B-B14F-4D97-AF65-F5344CB8AC3E}">
        <p14:creationId xmlns:p14="http://schemas.microsoft.com/office/powerpoint/2010/main" val="16026808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C6C66-CF7D-4D29-953F-2BD3E4C0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1. Serviços incluídos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BF2C8-0539-453B-B4B8-66B7B7BF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722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71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3DFE7-3744-4D59-AF22-14FCB7EF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4814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1A91D-FDBE-49CF-8C28-50D7CB42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76400"/>
            <a:ext cx="9763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Análise e organização dos documentos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12B1D8-26D3-42A5-A0CF-4EF15DC5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4814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32ACA-7026-48BC-9403-906FA36A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63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Elaboração e protocolo da ação monitória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5EB13-347B-4C5A-ABBB-8EBCC88C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4814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BE7600-820B-4B42-A58A-E8BE0E7B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76600"/>
            <a:ext cx="9763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Acompanhamento do processo em primeiro grau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64BD6-2162-4623-BE02-EFD89E5C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4814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BA4FC0-16B3-42D1-9FEF-C16479D1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76700"/>
            <a:ext cx="9763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Manifestações processuais ordinárias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CC31F3-17BA-49BF-B485-24CE7790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4814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3E0DBD-6C92-4170-993D-5D128FC3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76800"/>
            <a:ext cx="9763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Acompanhamento de eventual pagamento voluntário</a:t>
            </a:r>
          </a:p>
          <a:p xmlns:a="http://schemas.openxmlformats.org/drawingml/2006/main">
            <a:pPr>
              <a:buNone/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ou apresentação de embargos monitórios</a:t>
            </a:r>
          </a:p>
        </p:txBody>
      </p:sp>
    </p:spTree>
    <p:extLst>
      <p:ext uri="{BB962C8B-B14F-4D97-AF65-F5344CB8AC3E}">
        <p14:creationId xmlns:p14="http://schemas.microsoft.com/office/powerpoint/2010/main" val="1499614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E6EFC-5A50-4A4C-8984-0609E6CD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2. Honorários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2EB63-F170-4F92-A104-FE8FB62A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722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71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C02FC6-D0F8-4CB5-9F80-74DBCE7B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335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2717A"/>
                </a:solidFill>
                <a:latin typeface="Arial"/>
                <a:ea typeface="Arial"/>
                <a:cs typeface="Arial"/>
              </a:rPr>
              <a:t>A Tabela de Honorários da OAB-BA indica, como referência</a:t>
            </a:r>
          </a:p>
          <a:p xmlns:a="http://schemas.openxmlformats.org/drawingml/2006/main">
            <a:pPr>
              <a:buNone/>
              <a:defRPr sz="2025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2717A"/>
                </a:solidFill>
                <a:latin typeface="Arial"/>
                <a:ea typeface="Arial"/>
                <a:cs typeface="Arial"/>
              </a:rPr>
              <a:t>para o serviço, o valor de R$ 5.527,40.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B29D7-24F1-44BE-8AE5-8E0E2E0E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Considerando as particularidades da contratação, proponho: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A5B73-6B52-49A4-A3E9-09FE999E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523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575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575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R$ 3.000,00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BD02E-125E-4D11-9892-B5C051AE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504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Honorários iniciais</a:t>
            </a:r>
          </a:p>
          <a:p xmlns:a="http://schemas.openxmlformats.org/drawingml/2006/main">
            <a:pPr>
              <a:buNone/>
              <a:defRPr sz="202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Pagos na contratação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0AF2C-E781-4B45-B26C-3E0FD2E8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52775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51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10%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35C27-AF8B-4D89-A274-1802AAAC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62425"/>
            <a:ext cx="4333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Honorários de êxito</a:t>
            </a:r>
          </a:p>
          <a:p xmlns:a="http://schemas.openxmlformats.org/drawingml/2006/main">
            <a:pPr>
              <a:buNone/>
              <a:defRPr sz="202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Sobre o valor efetivamente recuperado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1222B1-897C-4501-AB3D-7E6301C8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578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O êxito incidirá sobre todo valor recebido, por pagamento voluntário, acordo, bloqueio judicial, levantamento de valores ou qualquer outra forma de satisfação do crédito.</a:t>
            </a:r>
          </a:p>
        </p:txBody>
      </p:sp>
    </p:spTree>
    <p:extLst>
      <p:ext uri="{BB962C8B-B14F-4D97-AF65-F5344CB8AC3E}">
        <p14:creationId xmlns:p14="http://schemas.microsoft.com/office/powerpoint/2010/main" val="14774725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09C7C6-ADEF-4EDE-8595-665CE59E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3. Despesas e serviços não incluídos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174AD-14FF-4A8A-A352-57D362D4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722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71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F86DE-045A-4C4D-87F4-6BAD6F32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4814E"/>
                </a:solidFill>
                <a:latin typeface="Arial"/>
                <a:ea typeface="Arial"/>
                <a:cs typeface="Arial"/>
              </a:rPr>
              <a:t>Custas e despesas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7C148-3C7F-4A32-BB0C-33844518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490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Custas judiciais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CC6F5-40D1-4F58-8432-962CAC51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490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Despesas de diligências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03D90-3667-43DA-9DD6-BF1DE3EC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19475"/>
            <a:ext cx="490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Taxas, certidões e emolumentos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72777-8296-4409-B8FB-4F97E96F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490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Cópias, autenticações ou deslocamentos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9C0C3-8C8F-4864-9AF1-9A253B07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490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Honorários de peritos ou profissionais auxiliares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DF055-7B7A-443F-8246-F5034B4B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590675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4814E"/>
                </a:solidFill>
                <a:latin typeface="Arial"/>
                <a:ea typeface="Arial"/>
                <a:cs typeface="Arial"/>
              </a:rPr>
              <a:t>Atuação adicional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92FEB-C0FC-4D13-873E-37C7BC68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81225"/>
            <a:ext cx="4810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Recursos para tribunais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69DF1-7126-4AB7-8303-854C7A81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200400"/>
            <a:ext cx="4810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Incidente de desconsideração da personalidade jurídica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591AF-B5C6-47F9-B36F-7436D60C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19575"/>
            <a:ext cx="4810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Medidas executivas ou investigação patrimonial extraordinárias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1646A-05DA-4708-BFCA-23902D5B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977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Eventuais despesas serão previamente comunicadas e correrão por conta do contratante.</a:t>
            </a:r>
          </a:p>
        </p:txBody>
      </p:sp>
    </p:spTree>
    <p:extLst>
      <p:ext uri="{BB962C8B-B14F-4D97-AF65-F5344CB8AC3E}">
        <p14:creationId xmlns:p14="http://schemas.microsoft.com/office/powerpoint/2010/main" val="5483145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82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AF0A7-3125-40CD-8412-F9F2FCD0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7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F7F4E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4EE"/>
                </a:solidFill>
                <a:latin typeface="Arial"/>
                <a:ea typeface="Arial"/>
                <a:cs typeface="Arial"/>
              </a:rPr>
              <a:t>4. Observação e formalização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0F8CE-B35E-4AAC-B4E9-55760B98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722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C3B2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C3B29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3B29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76838-904D-46BF-BA74-3D39BB1B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0477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F7F4E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7F4EE"/>
                </a:solidFill>
                <a:latin typeface="Arial"/>
                <a:ea typeface="Arial"/>
                <a:cs typeface="Arial"/>
              </a:rPr>
              <a:t>A contratação não garante resultado específico, pois o êxito depende da análise judicial dos documentos, da defesa apresentada pela parte contrária e da existência de patrimônio penhorável.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409C7-2BE0-4E73-94F6-E4B2AA7F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10477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D4BE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D4BE9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4BE99"/>
                </a:solidFill>
                <a:latin typeface="Arial"/>
                <a:ea typeface="Arial"/>
                <a:cs typeface="Arial"/>
              </a:rPr>
              <a:t>A presente proposta poderá ser formalizada mediante</a:t>
            </a:r>
          </a:p>
          <a:p xmlns:a="http://schemas.openxmlformats.org/drawingml/2006/main">
            <a:pPr>
              <a:buNone/>
              <a:defRPr sz="2175" b="0">
                <a:solidFill>
                  <a:srgbClr val="D4BE9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4BE99"/>
                </a:solidFill>
                <a:latin typeface="Arial"/>
                <a:ea typeface="Arial"/>
                <a:cs typeface="Arial"/>
              </a:rPr>
              <a:t>contrato de honorários advocatícios próprio.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CABD6-5DF7-4215-86DA-6CEDEBC3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3872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7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F7F4E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E"/>
                </a:solidFill>
                <a:latin typeface="Arial"/>
                <a:ea typeface="Arial"/>
                <a:cs typeface="Arial"/>
              </a:rPr>
              <a:t>Atenciosamente,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C7C19-3F83-4B7C-92B7-C3CAC7EE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7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F7F4E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4EE"/>
                </a:solidFill>
                <a:latin typeface="Arial"/>
                <a:ea typeface="Arial"/>
                <a:cs typeface="Arial"/>
              </a:rPr>
              <a:t>Raimundo Santos Correia Filho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EE843-C731-471C-B28C-C93B9DAB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D4BE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D4BE9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4BE99"/>
                </a:solidFill>
                <a:latin typeface="Arial"/>
                <a:ea typeface="Arial"/>
                <a:cs typeface="Arial"/>
              </a:rPr>
              <a:t>Advogado – OAB/BA 83.020</a:t>
            </a:r>
          </a:p>
        </p:txBody>
      </p:sp>
    </p:spTree>
    <p:extLst>
      <p:ext uri="{BB962C8B-B14F-4D97-AF65-F5344CB8AC3E}">
        <p14:creationId xmlns:p14="http://schemas.microsoft.com/office/powerpoint/2010/main" val="13345872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2026-10-13T23:56:20.2350000Z</dcterms:created>
  <dcterms:modified xsi:type="dcterms:W3CDTF">2026-10-13T23:56:20.2350000Z</dcterms:modified>
</coreProperties>
</file>